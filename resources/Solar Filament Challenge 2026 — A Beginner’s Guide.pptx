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4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slide" Target="slides/slide18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" name="Google Shape;28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Source: https://www.kaggle.com/competitions/filament-segmentation-2026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Accessed 24 October 2026.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9" name="Google Shape;29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" name="Google Shape;36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Source: https://www.kaggle.com/competitions/filament-segmentation-2026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Accessed 24 October 2026. Illustration from competition overview.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7" name="Google Shape;37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" name="Google Shape;45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Source: https://www.kaggle.com/competitions/filament-segmentation-2026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Accessed 24 October 2026.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6" name="Google Shape;46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" name="Google Shape;53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Source: https://www.kaggle.com/competitions/filament-segmentation-2026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Accessed 24 October 2026.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4" name="Google Shape;54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1" name="Google Shape;61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Source: https://www.kaggle.com/competitions/filament-segmentation-2026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Accessed 24 October 2026. Illustration from competition overview.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62" name="Google Shape;62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0" name="Google Shape;70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Source: https://www.kaggle.com/competitions/filament-segmentation-2026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Accessed 24 October 2026.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71" name="Google Shape;71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8" name="Google Shape;78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Source: https://www.kaggle.com/competitions/filament-segmentation-2026/data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Accessed 24 October 2026.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79" name="Google Shape;79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6" name="Google Shape;86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Source: https://www.kaggle.com/competitions/filament-segmentation-2026/data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Accessed 24 October 2026.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87" name="Google Shape;87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4" name="Google Shape;94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Source: https://www.kaggle.com/competitions/filament-segmentation-2026/data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Accessed 24 October 2026.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95" name="Google Shape;95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2" name="Google Shape;102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Source: https://www.kaggle.com/competitions/filament-segmentation-2026/data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Accessed 24 October 2026.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03" name="Google Shape;103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0" name="Google Shape;110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Source: https://www.kaggle.com/competitions/filament-segmentation-2026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Accessed 24 October 2026.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11" name="Google Shape;111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8" name="Google Shape;118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Source: https://www.kaggle.com/competitions/filament-segmentation-2026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Accessed 24 October 2026.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PQ explanation is simplified for beginners. The updated leaderboard section supersedes legacy Dice language.</a:t>
            </a:r>
            <a:endParaRPr/>
          </a:p>
        </p:txBody>
      </p:sp>
      <p:sp>
        <p:nvSpPr>
          <p:cNvPr id="119" name="Google Shape;119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6" name="Google Shape;126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Source: https://www.kaggle.com/competitions/filament-segmentation-2026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Accessed 24 October 2026.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27" name="Google Shape;127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4" name="Google Shape;134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Source: https://www.kaggle.com/competitions/filament-segmentation-2026/rules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Accessed 24 October 2026.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35" name="Google Shape;135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2" name="Google Shape;142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Source: https://www.kaggle.com/competitions/filament-segmentation-2026/rules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Accessed 24 October 2026.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43" name="Google Shape;143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0" name="Google Shape;150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Source: https://www.kaggle.com/competitions/filament-segmentation-2026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Accessed 24 October 2026.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51" name="Google Shape;151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8" name="Google Shape;158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Source: https://www.kaggle.com/competitions/filament-segmentation-2026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Accessed 24 October 2026.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59" name="Google Shape;159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6" name="Google Shape;166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Source: https://www.kaggle.com/competitions/filament-segmentation-2026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Accessed 24 October 2026.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67" name="Google Shape;167;p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4" name="Google Shape;174;p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Source: https://www.kaggle.com/competitions/filament-segmentation-2026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Accessed 24 October 2026.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75" name="Google Shape;175;p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sz="4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sz="4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sz="4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sz="4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sz="4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sz="4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sz="4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sz="4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b="1" i="0" sz="4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b="1" sz="4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b="1" sz="4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b="1" sz="4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b="1" sz="4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b="1" sz="4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b="1" sz="4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b="1" sz="4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b="1" sz="4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5"/>
          <p:cNvSpPr txBox="1"/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5"/>
          <p:cNvSpPr txBox="1"/>
          <p:nvPr>
            <p:ph idx="1" type="body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71475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b="0" i="0" sz="2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71475" lvl="1" marL="914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b="0" i="0" sz="2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71475" lvl="2" marL="1371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b="0" i="0" sz="2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71475" lvl="3" marL="18288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b="0" i="0" sz="2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71475" lvl="4" marL="22860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b="0" i="0" sz="2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71475" lvl="5" marL="27432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b="0" i="0" sz="2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71475" lvl="6" marL="3200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b="0" i="0" sz="2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71475" lvl="7" marL="3657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b="0" i="0" sz="2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71475" lvl="8" marL="4114800" marR="0" rtl="0" algn="l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250"/>
              <a:buFont typeface="Arial"/>
              <a:buChar char="•"/>
              <a:defRPr b="0" i="0" sz="2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">
  <p:cSld name="Title and Two Column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6"/>
          <p:cNvSpPr txBox="1"/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p6"/>
          <p:cNvSpPr txBox="1"/>
          <p:nvPr>
            <p:ph idx="1" type="body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6195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61950" lvl="1" marL="914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61950" lvl="2" marL="1371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61950" lvl="3" marL="18288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61950" lvl="4" marL="22860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61950" lvl="5" marL="27432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61950" lvl="6" marL="3200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61950" lvl="7" marL="3657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61950" lvl="8" marL="4114800" marR="0" rtl="0" algn="l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p6"/>
          <p:cNvSpPr txBox="1"/>
          <p:nvPr>
            <p:ph idx="2" type="body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6195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61950" lvl="1" marL="914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61950" lvl="2" marL="1371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61950" lvl="3" marL="18288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61950" lvl="4" marL="22860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61950" lvl="5" marL="27432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61950" lvl="6" marL="3200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61950" lvl="7" marL="3657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61950" lvl="8" marL="4114800" marR="0" rtl="0" algn="l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One Column">
  <p:cSld name="Title and One Column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"/>
          <p:cNvSpPr txBox="1"/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Google Shape;25;p7"/>
          <p:cNvSpPr txBox="1"/>
          <p:nvPr>
            <p:ph idx="1" type="body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71475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b="0" i="0" sz="2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71475" lvl="1" marL="914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b="0" i="0" sz="2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71475" lvl="2" marL="1371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b="0" i="0" sz="2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71475" lvl="3" marL="18288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b="0" i="0" sz="2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71475" lvl="4" marL="22860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b="0" i="0" sz="2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71475" lvl="5" marL="27432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b="0" i="0" sz="2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71475" lvl="6" marL="3200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b="0" i="0" sz="2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71475" lvl="7" marL="3657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b="0" i="0" sz="2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71475" lvl="8" marL="4114800" marR="0" rtl="0" algn="l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250"/>
              <a:buFont typeface="Arial"/>
              <a:buChar char="•"/>
              <a:defRPr b="0" i="0" sz="2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1C2D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/>
          <p:nvPr/>
        </p:nvSpPr>
        <p:spPr>
          <a:xfrm>
            <a:off x="685800" y="609600"/>
            <a:ext cx="1082040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00">
                <a:solidFill>
                  <a:srgbClr val="FFFFFF"/>
                </a:solidFill>
              </a:rPr>
              <a:t>Solar filaments, explained</a:t>
            </a:r>
            <a:endParaRPr/>
          </a:p>
        </p:txBody>
      </p:sp>
      <p:sp>
        <p:nvSpPr>
          <p:cNvPr id="32" name="Google Shape;32;p8"/>
          <p:cNvSpPr/>
          <p:nvPr/>
        </p:nvSpPr>
        <p:spPr>
          <a:xfrm>
            <a:off x="685800" y="2343150"/>
            <a:ext cx="10668000" cy="4048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D8E6EB"/>
                </a:solidFill>
              </a:rPr>
              <a:t>A beginner’s guide to the Solar Filament Segmentation Challenge 2026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100">
              <a:solidFill>
                <a:srgbClr val="D8E6EB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D8E6EB"/>
                </a:solidFill>
              </a:rPr>
              <a:t>The science, the data, and the rules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D8E6EB"/>
                </a:solidFill>
              </a:rPr>
              <a:t>Source pages checked 24 October 2026</a:t>
            </a:r>
            <a:endParaRPr/>
          </a:p>
        </p:txBody>
      </p:sp>
      <p:sp>
        <p:nvSpPr>
          <p:cNvPr id="33" name="Google Shape;33;p8"/>
          <p:cNvSpPr/>
          <p:nvPr/>
        </p:nvSpPr>
        <p:spPr>
          <a:xfrm>
            <a:off x="11125200" y="6267450"/>
            <a:ext cx="4762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D8E6EB"/>
                </a:solidFill>
              </a:rPr>
              <a:t>01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3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685800" y="609600"/>
            <a:ext cx="1082040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122B3D"/>
                </a:solidFill>
              </a:rPr>
              <a:t>Clouds above the Sun</a:t>
            </a:r>
            <a:endParaRPr/>
          </a:p>
        </p:txBody>
      </p:sp>
      <p:sp>
        <p:nvSpPr>
          <p:cNvPr id="40" name="Google Shape;40;p9"/>
          <p:cNvSpPr/>
          <p:nvPr/>
        </p:nvSpPr>
        <p:spPr>
          <a:xfrm>
            <a:off x="685800" y="1905000"/>
            <a:ext cx="5048250" cy="3714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263E4B"/>
                </a:solidFill>
              </a:rPr>
              <a:t>Solar filaments are dense clouds of solar material held above the Sun by magnetic fields.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25">
              <a:solidFill>
                <a:srgbClr val="263E4B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263E4B"/>
                </a:solidFill>
              </a:rPr>
              <a:t>They look dark against the bright solar disk in H-alpha images, which isolate a particular wavelength of light.</a:t>
            </a:r>
            <a:endParaRPr/>
          </a:p>
        </p:txBody>
      </p:sp>
      <p:pic>
        <p:nvPicPr>
          <p:cNvPr id="41" name="Google Shape;4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3981" y="1809750"/>
            <a:ext cx="5048538" cy="409575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9"/>
          <p:cNvSpPr/>
          <p:nvPr/>
        </p:nvSpPr>
        <p:spPr>
          <a:xfrm>
            <a:off x="11125200" y="6267450"/>
            <a:ext cx="4762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526773"/>
                </a:solidFill>
              </a:rPr>
              <a:t>02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3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0"/>
          <p:cNvSpPr/>
          <p:nvPr/>
        </p:nvSpPr>
        <p:spPr>
          <a:xfrm>
            <a:off x="685800" y="609600"/>
            <a:ext cx="1082040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122B3D"/>
                </a:solidFill>
              </a:rPr>
              <a:t>Why astronomers care</a:t>
            </a:r>
            <a:endParaRPr/>
          </a:p>
        </p:txBody>
      </p:sp>
      <p:sp>
        <p:nvSpPr>
          <p:cNvPr id="49" name="Google Shape;49;p10"/>
          <p:cNvSpPr/>
          <p:nvPr/>
        </p:nvSpPr>
        <p:spPr>
          <a:xfrm>
            <a:off x="685800" y="1905000"/>
            <a:ext cx="10668000" cy="4048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263E4B"/>
                </a:solidFill>
              </a:rPr>
              <a:t>Filaments are involved in solar eruptions. Some eruptions send material toward Earth.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100">
              <a:solidFill>
                <a:srgbClr val="263E4B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263E4B"/>
                </a:solidFill>
              </a:rPr>
              <a:t>These events can disrupt satellites, GPS and electricity grids. Mapping filaments supports space-weather research.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100">
              <a:solidFill>
                <a:srgbClr val="263E4B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263E4B"/>
                </a:solidFill>
              </a:rPr>
              <a:t>This challenge maps filament shapes. It does not directly predict an eruption.</a:t>
            </a:r>
            <a:endParaRPr/>
          </a:p>
        </p:txBody>
      </p:sp>
      <p:sp>
        <p:nvSpPr>
          <p:cNvPr id="50" name="Google Shape;50;p10"/>
          <p:cNvSpPr/>
          <p:nvPr/>
        </p:nvSpPr>
        <p:spPr>
          <a:xfrm>
            <a:off x="11125200" y="6267450"/>
            <a:ext cx="4762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526773"/>
                </a:solidFill>
              </a:rPr>
              <a:t>03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685800" y="609600"/>
            <a:ext cx="1082040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122B3D"/>
                </a:solidFill>
              </a:rPr>
              <a:t>The computer’s task</a:t>
            </a:r>
            <a:endParaRPr/>
          </a:p>
        </p:txBody>
      </p:sp>
      <p:sp>
        <p:nvSpPr>
          <p:cNvPr id="57" name="Google Shape;57;p11"/>
          <p:cNvSpPr/>
          <p:nvPr/>
        </p:nvSpPr>
        <p:spPr>
          <a:xfrm>
            <a:off x="685800" y="1905000"/>
            <a:ext cx="10668000" cy="4048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263E4B"/>
                </a:solidFill>
              </a:rPr>
              <a:t>Segmentation means coloring in the pixels that belong to an object. A pixel is one tiny square in a digital image.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100">
              <a:solidFill>
                <a:srgbClr val="263E4B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263E4B"/>
                </a:solidFill>
              </a:rPr>
              <a:t>Here, the program must outline each filament separately, including its thin branches, while leaving the background out.</a:t>
            </a:r>
            <a:endParaRPr/>
          </a:p>
        </p:txBody>
      </p:sp>
      <p:sp>
        <p:nvSpPr>
          <p:cNvPr id="58" name="Google Shape;58;p11"/>
          <p:cNvSpPr/>
          <p:nvPr/>
        </p:nvSpPr>
        <p:spPr>
          <a:xfrm>
            <a:off x="11125200" y="6267450"/>
            <a:ext cx="4762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526773"/>
                </a:solidFill>
              </a:rPr>
              <a:t>04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3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2"/>
          <p:cNvSpPr/>
          <p:nvPr/>
        </p:nvSpPr>
        <p:spPr>
          <a:xfrm>
            <a:off x="685800" y="609600"/>
            <a:ext cx="1082040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122B3D"/>
                </a:solidFill>
              </a:rPr>
              <a:t>The answer is a mask</a:t>
            </a:r>
            <a:endParaRPr/>
          </a:p>
        </p:txBody>
      </p:sp>
      <p:sp>
        <p:nvSpPr>
          <p:cNvPr id="65" name="Google Shape;65;p12"/>
          <p:cNvSpPr/>
          <p:nvPr/>
        </p:nvSpPr>
        <p:spPr>
          <a:xfrm>
            <a:off x="685800" y="1905000"/>
            <a:ext cx="5048250" cy="3714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263E4B"/>
                </a:solidFill>
              </a:rPr>
              <a:t>A mask marks the pixels belonging to one filament. Each filament needs its own mask.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25">
              <a:solidFill>
                <a:srgbClr val="263E4B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263E4B"/>
                </a:solidFill>
              </a:rPr>
              <a:t>The organizer’s examples show solar images alongside human annotations. These examples teach us what a good outline looks like.</a:t>
            </a:r>
            <a:endParaRPr/>
          </a:p>
        </p:txBody>
      </p:sp>
      <p:pic>
        <p:nvPicPr>
          <p:cNvPr id="66" name="Google Shape;6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91250" y="2389174"/>
            <a:ext cx="5334000" cy="2936902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2"/>
          <p:cNvSpPr/>
          <p:nvPr/>
        </p:nvSpPr>
        <p:spPr>
          <a:xfrm>
            <a:off x="11125200" y="6267450"/>
            <a:ext cx="4762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526773"/>
                </a:solidFill>
              </a:rPr>
              <a:t>05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3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3"/>
          <p:cNvSpPr/>
          <p:nvPr/>
        </p:nvSpPr>
        <p:spPr>
          <a:xfrm>
            <a:off x="685800" y="609600"/>
            <a:ext cx="1082040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122B3D"/>
                </a:solidFill>
              </a:rPr>
              <a:t>How machine learning fits in</a:t>
            </a:r>
            <a:endParaRPr/>
          </a:p>
        </p:txBody>
      </p:sp>
      <p:sp>
        <p:nvSpPr>
          <p:cNvPr id="74" name="Google Shape;74;p13"/>
          <p:cNvSpPr/>
          <p:nvPr/>
        </p:nvSpPr>
        <p:spPr>
          <a:xfrm>
            <a:off x="685800" y="1905000"/>
            <a:ext cx="10668000" cy="4048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263E4B"/>
                </a:solidFill>
              </a:rPr>
              <a:t>Training: show a model solar images paired with human-drawn masks so it can learn useful patterns.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100">
              <a:solidFill>
                <a:srgbClr val="263E4B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263E4B"/>
                </a:solidFill>
              </a:rPr>
              <a:t>Validation: check it on held-out training images that it did not learn from.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100">
              <a:solidFill>
                <a:srgbClr val="263E4B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263E4B"/>
                </a:solidFill>
              </a:rPr>
              <a:t>Inference: ask it to produce masks for unseen test images. Traditional image-processing methods are also allowed.</a:t>
            </a:r>
            <a:endParaRPr/>
          </a:p>
        </p:txBody>
      </p:sp>
      <p:sp>
        <p:nvSpPr>
          <p:cNvPr id="75" name="Google Shape;75;p13"/>
          <p:cNvSpPr/>
          <p:nvPr/>
        </p:nvSpPr>
        <p:spPr>
          <a:xfrm>
            <a:off x="11125200" y="6267450"/>
            <a:ext cx="4762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526773"/>
                </a:solidFill>
              </a:rPr>
              <a:t>06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3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4"/>
          <p:cNvSpPr/>
          <p:nvPr/>
        </p:nvSpPr>
        <p:spPr>
          <a:xfrm>
            <a:off x="685800" y="609600"/>
            <a:ext cx="1082040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122B3D"/>
                </a:solidFill>
              </a:rPr>
              <a:t>What the download contains</a:t>
            </a:r>
            <a:endParaRPr/>
          </a:p>
        </p:txBody>
      </p:sp>
      <p:sp>
        <p:nvSpPr>
          <p:cNvPr id="82" name="Google Shape;82;p14"/>
          <p:cNvSpPr/>
          <p:nvPr/>
        </p:nvSpPr>
        <p:spPr>
          <a:xfrm>
            <a:off x="685800" y="1905000"/>
            <a:ext cx="10668000" cy="4048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263E4B"/>
                </a:solidFill>
              </a:rPr>
              <a:t>MAGFiLO is the collection of manually annotated GONG solar images used here.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100">
              <a:solidFill>
                <a:srgbClr val="263E4B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263E4B"/>
                </a:solidFill>
              </a:rPr>
              <a:t>train/train_images/ contains learning images.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263E4B"/>
                </a:solidFill>
              </a:rPr>
              <a:t>train/MAGFiLO_1.0_Annotations_kaggle2026_train.json contains their human annotations.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100">
              <a:solidFill>
                <a:srgbClr val="263E4B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263E4B"/>
                </a:solidFill>
              </a:rPr>
              <a:t>test/test_images/ contains images for your predictions. Test answers are hidden.</a:t>
            </a:r>
            <a:endParaRPr/>
          </a:p>
        </p:txBody>
      </p:sp>
      <p:sp>
        <p:nvSpPr>
          <p:cNvPr id="83" name="Google Shape;83;p14"/>
          <p:cNvSpPr/>
          <p:nvPr/>
        </p:nvSpPr>
        <p:spPr>
          <a:xfrm>
            <a:off x="11125200" y="6267450"/>
            <a:ext cx="4762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526773"/>
                </a:solidFill>
              </a:rPr>
              <a:t>07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3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5"/>
          <p:cNvSpPr/>
          <p:nvPr/>
        </p:nvSpPr>
        <p:spPr>
          <a:xfrm>
            <a:off x="685800" y="609600"/>
            <a:ext cx="1082040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122B3D"/>
                </a:solidFill>
              </a:rPr>
              <a:t>The images in plain language</a:t>
            </a:r>
            <a:endParaRPr/>
          </a:p>
        </p:txBody>
      </p:sp>
      <p:sp>
        <p:nvSpPr>
          <p:cNvPr id="90" name="Google Shape;90;p15"/>
          <p:cNvSpPr/>
          <p:nvPr/>
        </p:nvSpPr>
        <p:spPr>
          <a:xfrm>
            <a:off x="685800" y="1905000"/>
            <a:ext cx="10668000" cy="4048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263E4B"/>
                </a:solidFill>
              </a:rPr>
              <a:t>Each image is 2048 × 2048 pixels, in 8-bit grayscale JPEG format. Treat it as brightness data rather than color.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100">
              <a:solidFill>
                <a:srgbClr val="263E4B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263E4B"/>
                </a:solidFill>
              </a:rPr>
              <a:t>GONG is a network of ground-based solar instruments. H-alpha is the type of observation they provide here.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100">
              <a:solidFill>
                <a:srgbClr val="263E4B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263E4B"/>
                </a:solidFill>
              </a:rPr>
              <a:t>The Data page lists 888 files totaling 750.97 MB. This is a file count, not a verified training-image count.</a:t>
            </a:r>
            <a:endParaRPr/>
          </a:p>
        </p:txBody>
      </p:sp>
      <p:sp>
        <p:nvSpPr>
          <p:cNvPr id="91" name="Google Shape;91;p15"/>
          <p:cNvSpPr/>
          <p:nvPr/>
        </p:nvSpPr>
        <p:spPr>
          <a:xfrm>
            <a:off x="11125200" y="6267450"/>
            <a:ext cx="4762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526773"/>
                </a:solidFill>
              </a:rPr>
              <a:t>08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3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/>
          <p:nvPr/>
        </p:nvSpPr>
        <p:spPr>
          <a:xfrm>
            <a:off x="685800" y="609600"/>
            <a:ext cx="1082040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122B3D"/>
                </a:solidFill>
              </a:rPr>
              <a:t>The annotation file</a:t>
            </a:r>
            <a:endParaRPr/>
          </a:p>
        </p:txBody>
      </p:sp>
      <p:sp>
        <p:nvSpPr>
          <p:cNvPr id="98" name="Google Shape;98;p16"/>
          <p:cNvSpPr/>
          <p:nvPr/>
        </p:nvSpPr>
        <p:spPr>
          <a:xfrm>
            <a:off x="685800" y="1905000"/>
            <a:ext cx="10668000" cy="4048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263E4B"/>
                </a:solidFill>
              </a:rPr>
              <a:t>JSON is a structured text file. COCO-style describes how its image records and object annotations link together.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100">
              <a:solidFill>
                <a:srgbClr val="263E4B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263E4B"/>
                </a:solidFill>
              </a:rPr>
              <a:t>A segmentation describes a filament’s outline. Convert it into a mask for learning or scoring.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100">
              <a:solidFill>
                <a:srgbClr val="263E4B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263E4B"/>
                </a:solidFill>
              </a:rPr>
              <a:t>The file also includes boxes, spines and category labels. The overview restricts training to the permitted segmentation ground truth.</a:t>
            </a:r>
            <a:endParaRPr/>
          </a:p>
        </p:txBody>
      </p:sp>
      <p:sp>
        <p:nvSpPr>
          <p:cNvPr id="99" name="Google Shape;99;p16"/>
          <p:cNvSpPr/>
          <p:nvPr/>
        </p:nvSpPr>
        <p:spPr>
          <a:xfrm>
            <a:off x="11125200" y="6267450"/>
            <a:ext cx="4762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526773"/>
                </a:solidFill>
              </a:rPr>
              <a:t>09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3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7"/>
          <p:cNvSpPr/>
          <p:nvPr/>
        </p:nvSpPr>
        <p:spPr>
          <a:xfrm>
            <a:off x="685800" y="609600"/>
            <a:ext cx="1082040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122B3D"/>
                </a:solidFill>
              </a:rPr>
              <a:t>Repeated images and compressed masks</a:t>
            </a:r>
            <a:endParaRPr/>
          </a:p>
        </p:txBody>
      </p:sp>
      <p:sp>
        <p:nvSpPr>
          <p:cNvPr id="106" name="Google Shape;106;p17"/>
          <p:cNvSpPr/>
          <p:nvPr/>
        </p:nvSpPr>
        <p:spPr>
          <a:xfrm>
            <a:off x="685800" y="1905000"/>
            <a:ext cx="10668000" cy="4048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263E4B"/>
                </a:solidFill>
              </a:rPr>
              <a:t>Different people may independently annotate the same solar image. Their records can have different IDs but the same underlying picture.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100">
              <a:solidFill>
                <a:srgbClr val="263E4B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263E4B"/>
                </a:solidFill>
              </a:rPr>
              <a:t>For an honest local validation check, keep all copies of a picture in the same split. This is a suggested ML practice.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100">
              <a:solidFill>
                <a:srgbClr val="263E4B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263E4B"/>
                </a:solidFill>
              </a:rPr>
              <a:t>RLE means run-length encoding: a compact, lossless way to store a mask. The supplied pycocotools library helps convert formats.</a:t>
            </a:r>
            <a:endParaRPr/>
          </a:p>
        </p:txBody>
      </p:sp>
      <p:sp>
        <p:nvSpPr>
          <p:cNvPr id="107" name="Google Shape;107;p17"/>
          <p:cNvSpPr/>
          <p:nvPr/>
        </p:nvSpPr>
        <p:spPr>
          <a:xfrm>
            <a:off x="11125200" y="6267450"/>
            <a:ext cx="4762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526773"/>
                </a:solidFill>
              </a:rPr>
              <a:t>10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3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8"/>
          <p:cNvSpPr/>
          <p:nvPr/>
        </p:nvSpPr>
        <p:spPr>
          <a:xfrm>
            <a:off x="685800" y="609600"/>
            <a:ext cx="1082040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122B3D"/>
                </a:solidFill>
              </a:rPr>
              <a:t>What makes a good prediction</a:t>
            </a:r>
            <a:endParaRPr/>
          </a:p>
        </p:txBody>
      </p:sp>
      <p:sp>
        <p:nvSpPr>
          <p:cNvPr id="114" name="Google Shape;114;p18"/>
          <p:cNvSpPr/>
          <p:nvPr/>
        </p:nvSpPr>
        <p:spPr>
          <a:xfrm>
            <a:off x="685800" y="1905000"/>
            <a:ext cx="10668000" cy="4048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263E4B"/>
                </a:solidFill>
              </a:rPr>
              <a:t>Fine branches: capture the thin extensions as well as the main body.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100">
              <a:solidFill>
                <a:srgbClr val="263E4B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263E4B"/>
                </a:solidFill>
              </a:rPr>
              <a:t>Clean background: avoid confusing noise or other dark features with a filament.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100">
              <a:solidFill>
                <a:srgbClr val="263E4B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263E4B"/>
                </a:solidFill>
              </a:rPr>
              <a:t>Separate objects: avoid breaking one filament into pieces or joining neighboring filaments together.</a:t>
            </a:r>
            <a:endParaRPr/>
          </a:p>
        </p:txBody>
      </p:sp>
      <p:sp>
        <p:nvSpPr>
          <p:cNvPr id="115" name="Google Shape;115;p18"/>
          <p:cNvSpPr/>
          <p:nvPr/>
        </p:nvSpPr>
        <p:spPr>
          <a:xfrm>
            <a:off x="11125200" y="6267450"/>
            <a:ext cx="4762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526773"/>
                </a:solidFill>
              </a:rPr>
              <a:t>11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3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/>
          <p:cNvSpPr/>
          <p:nvPr/>
        </p:nvSpPr>
        <p:spPr>
          <a:xfrm>
            <a:off x="685800" y="609600"/>
            <a:ext cx="1082040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122B3D"/>
                </a:solidFill>
              </a:rPr>
              <a:t>How results are judged</a:t>
            </a:r>
            <a:endParaRPr/>
          </a:p>
        </p:txBody>
      </p:sp>
      <p:sp>
        <p:nvSpPr>
          <p:cNvPr id="122" name="Google Shape;122;p19"/>
          <p:cNvSpPr/>
          <p:nvPr/>
        </p:nvSpPr>
        <p:spPr>
          <a:xfrm>
            <a:off x="685800" y="1905000"/>
            <a:ext cx="10668000" cy="4048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263E4B"/>
                </a:solidFill>
              </a:rPr>
              <a:t>The updated leaderboard metric is Panoptic Quality (PQ). It rewards overlapping shapes and correct identification of individual objects.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100">
              <a:solidFill>
                <a:srgbClr val="263E4B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263E4B"/>
                </a:solidFill>
              </a:rPr>
              <a:t>IoU measures shared area divided by total covered area. Example: 60 shared pixels out of 100 covered pixels gives IoU = 0.60.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100">
              <a:solidFill>
                <a:srgbClr val="263E4B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263E4B"/>
                </a:solidFill>
              </a:rPr>
              <a:t>The final rubric is 70% quantitative and 30% qualitative, including apparent shape quality, the pipeline explanation and code quality.</a:t>
            </a:r>
            <a:endParaRPr/>
          </a:p>
        </p:txBody>
      </p:sp>
      <p:sp>
        <p:nvSpPr>
          <p:cNvPr id="123" name="Google Shape;123;p19"/>
          <p:cNvSpPr/>
          <p:nvPr/>
        </p:nvSpPr>
        <p:spPr>
          <a:xfrm>
            <a:off x="11125200" y="6267450"/>
            <a:ext cx="4762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526773"/>
                </a:solidFill>
              </a:rPr>
              <a:t>12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3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0"/>
          <p:cNvSpPr/>
          <p:nvPr/>
        </p:nvSpPr>
        <p:spPr>
          <a:xfrm>
            <a:off x="685800" y="609600"/>
            <a:ext cx="1082040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122B3D"/>
                </a:solidFill>
              </a:rPr>
              <a:t>The prediction file</a:t>
            </a:r>
            <a:endParaRPr/>
          </a:p>
        </p:txBody>
      </p:sp>
      <p:sp>
        <p:nvSpPr>
          <p:cNvPr id="130" name="Google Shape;130;p20"/>
          <p:cNvSpPr/>
          <p:nvPr/>
        </p:nvSpPr>
        <p:spPr>
          <a:xfrm>
            <a:off x="685800" y="1905000"/>
            <a:ext cx="10668000" cy="4048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263E4B"/>
                </a:solidFill>
              </a:rPr>
              <a:t>Upload one CSV spreadsheet-style file for the whole test set. Each row represents one predicted filament.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100">
              <a:solidFill>
                <a:srgbClr val="263E4B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263E4B"/>
                </a:solidFill>
              </a:rPr>
              <a:t>filament_id: the unchanged image ID plus a unique suffix, such as 20150125172714Mh_1.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100">
              <a:solidFill>
                <a:srgbClr val="263E4B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263E4B"/>
                </a:solidFill>
              </a:rPr>
              <a:t>segmentation_rle: the encoded mask counts. Use the organizer’s pycocotools guidance. Masks use the original 2048 × 2048 size.</a:t>
            </a:r>
            <a:endParaRPr/>
          </a:p>
        </p:txBody>
      </p:sp>
      <p:sp>
        <p:nvSpPr>
          <p:cNvPr id="131" name="Google Shape;131;p20"/>
          <p:cNvSpPr/>
          <p:nvPr/>
        </p:nvSpPr>
        <p:spPr>
          <a:xfrm>
            <a:off x="11125200" y="6267450"/>
            <a:ext cx="4762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526773"/>
                </a:solidFill>
              </a:rPr>
              <a:t>13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3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1"/>
          <p:cNvSpPr/>
          <p:nvPr/>
        </p:nvSpPr>
        <p:spPr>
          <a:xfrm>
            <a:off x="685800" y="609600"/>
            <a:ext cx="1082040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122B3D"/>
                </a:solidFill>
              </a:rPr>
              <a:t>Participation and fair play</a:t>
            </a:r>
            <a:endParaRPr/>
          </a:p>
        </p:txBody>
      </p:sp>
      <p:sp>
        <p:nvSpPr>
          <p:cNvPr id="138" name="Google Shape;138;p21"/>
          <p:cNvSpPr/>
          <p:nvPr/>
        </p:nvSpPr>
        <p:spPr>
          <a:xfrm>
            <a:off x="685800" y="1905000"/>
            <a:ext cx="10668000" cy="4048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263E4B"/>
                </a:solidFill>
              </a:rPr>
              <a:t>One Kaggle account per person. A team can have up to 5 people. At most 5 submissions per day and 2 final submissions for judging.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100">
              <a:solidFill>
                <a:srgbClr val="263E4B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263E4B"/>
                </a:solidFill>
              </a:rPr>
              <a:t>No private code or data sharing between separate teams. Public code sharing belongs on the competition’s Kaggle forum or notebooks.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100">
              <a:solidFill>
                <a:srgbClr val="263E4B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263E4B"/>
                </a:solidFill>
              </a:rPr>
              <a:t>Do not use hand-labeled validation or test answers in submissions. Team mergers must meet the deadline and combined submission limits.</a:t>
            </a:r>
            <a:endParaRPr/>
          </a:p>
        </p:txBody>
      </p:sp>
      <p:sp>
        <p:nvSpPr>
          <p:cNvPr id="139" name="Google Shape;139;p21"/>
          <p:cNvSpPr/>
          <p:nvPr/>
        </p:nvSpPr>
        <p:spPr>
          <a:xfrm>
            <a:off x="11125200" y="6267450"/>
            <a:ext cx="4762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526773"/>
                </a:solidFill>
              </a:rPr>
              <a:t>14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3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2"/>
          <p:cNvSpPr/>
          <p:nvPr/>
        </p:nvSpPr>
        <p:spPr>
          <a:xfrm>
            <a:off x="685800" y="609600"/>
            <a:ext cx="1082040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122B3D"/>
                </a:solidFill>
              </a:rPr>
              <a:t>Data, tools and prize eligibility</a:t>
            </a:r>
            <a:endParaRPr/>
          </a:p>
        </p:txBody>
      </p:sp>
      <p:sp>
        <p:nvSpPr>
          <p:cNvPr id="146" name="Google Shape;146;p22"/>
          <p:cNvSpPr/>
          <p:nvPr/>
        </p:nvSpPr>
        <p:spPr>
          <a:xfrm>
            <a:off x="685800" y="1905000"/>
            <a:ext cx="10668000" cy="4048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263E4B"/>
                </a:solidFill>
              </a:rPr>
              <a:t>Competition data are for noncommercial competition, education and academic research. The Data page lists CC BY-NC 4.0.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100">
              <a:solidFill>
                <a:srgbClr val="263E4B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263E4B"/>
                </a:solidFill>
              </a:rPr>
              <a:t>External data and models must meet access, cost and licensing rules. At inference, only the supplied test H-alpha images may be used.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100">
              <a:solidFill>
                <a:srgbClr val="263E4B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263E4B"/>
                </a:solidFill>
              </a:rPr>
              <a:t>AI and AutoML tools are allowed. Prize candidates must understand, explain and reproduce the solution. Eligibility also depends on age, location and conflict-of-interest rules.</a:t>
            </a:r>
            <a:endParaRPr/>
          </a:p>
        </p:txBody>
      </p:sp>
      <p:sp>
        <p:nvSpPr>
          <p:cNvPr id="147" name="Google Shape;147;p22"/>
          <p:cNvSpPr/>
          <p:nvPr/>
        </p:nvSpPr>
        <p:spPr>
          <a:xfrm>
            <a:off x="11125200" y="6267450"/>
            <a:ext cx="4762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526773"/>
                </a:solidFill>
              </a:rPr>
              <a:t>15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3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3"/>
          <p:cNvSpPr/>
          <p:nvPr/>
        </p:nvSpPr>
        <p:spPr>
          <a:xfrm>
            <a:off x="685800" y="609600"/>
            <a:ext cx="1082040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122B3D"/>
                </a:solidFill>
              </a:rPr>
              <a:t>The final hand-in includes more than a CSV</a:t>
            </a:r>
            <a:endParaRPr/>
          </a:p>
        </p:txBody>
      </p:sp>
      <p:sp>
        <p:nvSpPr>
          <p:cNvPr id="154" name="Google Shape;154;p23"/>
          <p:cNvSpPr/>
          <p:nvPr/>
        </p:nvSpPr>
        <p:spPr>
          <a:xfrm>
            <a:off x="685800" y="1905000"/>
            <a:ext cx="10668000" cy="4048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263E4B"/>
                </a:solidFill>
              </a:rPr>
              <a:t>For final evaluation, complete the organizer’s Google form with a 4-page technical report PDF and a public Git repository.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100">
              <a:solidFill>
                <a:srgbClr val="263E4B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263E4B"/>
                </a:solidFill>
              </a:rPr>
              <a:t>Include a notebook covering the whole pipeline, requirements.txt with package versions, and trained model weights so judges can reproduce predictions without retraining.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100">
              <a:solidFill>
                <a:srgbClr val="263E4B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263E4B"/>
                </a:solidFill>
              </a:rPr>
              <a:t>Keep the repository public through the winner announcement. Winners have code, documentation, licensing and prize paperwork obligations.</a:t>
            </a:r>
            <a:endParaRPr/>
          </a:p>
        </p:txBody>
      </p:sp>
      <p:sp>
        <p:nvSpPr>
          <p:cNvPr id="155" name="Google Shape;155;p23"/>
          <p:cNvSpPr/>
          <p:nvPr/>
        </p:nvSpPr>
        <p:spPr>
          <a:xfrm>
            <a:off x="11125200" y="6267450"/>
            <a:ext cx="4762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526773"/>
                </a:solidFill>
              </a:rPr>
              <a:t>16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3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4"/>
          <p:cNvSpPr/>
          <p:nvPr/>
        </p:nvSpPr>
        <p:spPr>
          <a:xfrm>
            <a:off x="685800" y="609600"/>
            <a:ext cx="1082040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122B3D"/>
                </a:solidFill>
              </a:rPr>
              <a:t>Dates and scoring need a final check</a:t>
            </a:r>
            <a:endParaRPr/>
          </a:p>
        </p:txBody>
      </p:sp>
      <p:sp>
        <p:nvSpPr>
          <p:cNvPr id="162" name="Google Shape;162;p24"/>
          <p:cNvSpPr/>
          <p:nvPr/>
        </p:nvSpPr>
        <p:spPr>
          <a:xfrm>
            <a:off x="685800" y="1905000"/>
            <a:ext cx="10668000" cy="4048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263E4B"/>
                </a:solidFill>
              </a:rPr>
              <a:t>The header shows a close of 15 November 2026 at 11:30 am IST. Important Dates says 15 November at 11:59 pm CDT. These are different times. Confirm the deadline with the hosts and work to the earlier displayed close.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100">
              <a:solidFill>
                <a:srgbClr val="263E4B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263E4B"/>
                </a:solidFill>
              </a:rPr>
              <a:t>Updated sections specify PQ. Some older text still says Dice, and announcement thresholds use inconsistent scales. The current evaluator and host clarification should guide interpretation.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100">
              <a:solidFill>
                <a:srgbClr val="263E4B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263E4B"/>
                </a:solidFill>
              </a:rPr>
              <a:t>The prize pool is up to $3,000 with a dynamic split across the top three teams.</a:t>
            </a:r>
            <a:endParaRPr/>
          </a:p>
        </p:txBody>
      </p:sp>
      <p:sp>
        <p:nvSpPr>
          <p:cNvPr id="163" name="Google Shape;163;p24"/>
          <p:cNvSpPr/>
          <p:nvPr/>
        </p:nvSpPr>
        <p:spPr>
          <a:xfrm>
            <a:off x="11125200" y="6267450"/>
            <a:ext cx="4762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526773"/>
                </a:solidFill>
              </a:rPr>
              <a:t>17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3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5"/>
          <p:cNvSpPr/>
          <p:nvPr/>
        </p:nvSpPr>
        <p:spPr>
          <a:xfrm>
            <a:off x="685800" y="609600"/>
            <a:ext cx="1082040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122B3D"/>
                </a:solidFill>
              </a:rPr>
              <a:t>A manageable first attempt</a:t>
            </a:r>
            <a:endParaRPr/>
          </a:p>
        </p:txBody>
      </p:sp>
      <p:sp>
        <p:nvSpPr>
          <p:cNvPr id="170" name="Google Shape;170;p25"/>
          <p:cNvSpPr/>
          <p:nvPr/>
        </p:nvSpPr>
        <p:spPr>
          <a:xfrm>
            <a:off x="685800" y="1905000"/>
            <a:ext cx="10668000" cy="4048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263E4B"/>
                </a:solidFill>
              </a:rPr>
              <a:t>Inspect a few training images with their masks. Check that each mask lines up with its image.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100">
              <a:solidFill>
                <a:srgbClr val="263E4B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263E4B"/>
                </a:solidFill>
              </a:rPr>
              <a:t>Reserve a separate validation set. Try a simple image-processing baseline or a small segmentation model.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100">
              <a:solidFill>
                <a:srgbClr val="263E4B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263E4B"/>
                </a:solidFill>
              </a:rPr>
              <a:t>Inspect missed branches and merged objects, run the organizer’s self-evaluation notebook, then test CSV encoding before a full submission.</a:t>
            </a:r>
            <a:endParaRPr/>
          </a:p>
        </p:txBody>
      </p:sp>
      <p:sp>
        <p:nvSpPr>
          <p:cNvPr id="171" name="Google Shape;171;p25"/>
          <p:cNvSpPr/>
          <p:nvPr/>
        </p:nvSpPr>
        <p:spPr>
          <a:xfrm>
            <a:off x="11125200" y="6267450"/>
            <a:ext cx="4762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526773"/>
                </a:solidFill>
              </a:rPr>
              <a:t>18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3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6"/>
          <p:cNvSpPr/>
          <p:nvPr/>
        </p:nvSpPr>
        <p:spPr>
          <a:xfrm>
            <a:off x="685800" y="609600"/>
            <a:ext cx="1082040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122B3D"/>
                </a:solidFill>
              </a:rPr>
              <a:t>Sources and further reading</a:t>
            </a:r>
            <a:endParaRPr/>
          </a:p>
        </p:txBody>
      </p:sp>
      <p:sp>
        <p:nvSpPr>
          <p:cNvPr id="178" name="Google Shape;178;p26"/>
          <p:cNvSpPr/>
          <p:nvPr/>
        </p:nvSpPr>
        <p:spPr>
          <a:xfrm>
            <a:off x="685800" y="1905000"/>
            <a:ext cx="10668000" cy="4048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263E4B"/>
                </a:solidFill>
              </a:rPr>
              <a:t>Competition overview: problem, evaluation, dates and final hand-in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263E4B"/>
                </a:solidFill>
              </a:rPr>
              <a:t>https://www.kaggle.com/competitions/filament-segmentation-2026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100">
              <a:solidFill>
                <a:srgbClr val="263E4B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263E4B"/>
                </a:solidFill>
              </a:rPr>
              <a:t>Data: file structure, images and annotations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263E4B"/>
                </a:solidFill>
              </a:rPr>
              <a:t>https://www.kaggle.com/competitions/filament-segmentation-2026/data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100">
              <a:solidFill>
                <a:srgbClr val="263E4B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263E4B"/>
                </a:solidFill>
              </a:rPr>
              <a:t>Rules: participation, permitted use and winner obligations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263E4B"/>
                </a:solidFill>
              </a:rPr>
              <a:t>https://www.kaggle.com/competitions/filament-segmentation-2026/rules</a:t>
            </a:r>
            <a:endParaRPr/>
          </a:p>
        </p:txBody>
      </p:sp>
      <p:sp>
        <p:nvSpPr>
          <p:cNvPr id="179" name="Google Shape;179;p26"/>
          <p:cNvSpPr/>
          <p:nvPr/>
        </p:nvSpPr>
        <p:spPr>
          <a:xfrm>
            <a:off x="11125200" y="6267450"/>
            <a:ext cx="4762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526773"/>
                </a:solidFill>
              </a:rPr>
              <a:t>19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